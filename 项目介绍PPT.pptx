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2743200"/>
            <a:ext cx="9144000" cy="9144000"/>
          </a:xfrm>
          <a:prstGeom prst="ellipse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AI 智能助手项目介绍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666666"/>
                </a:solidFill>
              </a:defRPr>
            </a:pPr>
            <a:r>
              <a:t>基于大语言模型的智能对话系统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>
                <a:solidFill>
                  <a:srgbClr val="3B82F6"/>
                </a:solidFill>
              </a:defRPr>
            </a:pPr>
            <a:r>
              <a:t>AI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项目概述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defRPr sz="1400">
                <a:solidFill>
                  <a:srgbClr val="444444"/>
                </a:solidFill>
              </a:defRPr>
            </a:pPr>
            <a:r>
              <a:t>本项目是一个基于大语言模型（LLM）和 RAG（检索增强生成）技术构建的**多用户 AI 智能对话系统**。系统支持多轮对话、个人知识库管理、文档解析、混合检索（向量 + BM25）、图文多模态理解等核心能力，提供完整的用户体系、对话管理、知识库管理和检索式问答体验。</a:t>
            </a:r>
          </a:p>
          <a:p>
            <a:pPr>
              <a:spcBef>
                <a:spcPts val="1500"/>
              </a:spcBef>
              <a:defRPr sz="1800" b="1">
                <a:solidFill>
                  <a:srgbClr val="3B82F6"/>
                </a:solidFill>
              </a:defRPr>
            </a:pPr>
            <a:r>
              <a:t>项目亮点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完整的多用户体系（注册/登录/JWT 鉴权）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支持多知识库管理，按库检索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异步任务队列处理文档解析与向量化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混合检索（向量检索 + BM25 关键词） + RRF 融合排序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多模态支持：图片理解（Vision 模型）+ OCR 降级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实时流式回答（SSE），含来源引用 `[1][2]`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任务进度可视化，支持重试与重索引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30 题检索评测数据集与自动评估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核心功能特性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**用户与权限**：基于 JWT 的无状态鉴权、bcrypt 密码加密、按用户隔离数据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**多轮对话**：会话管理、消息持久化、Redis 缓存加速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**知识库 RAG**：多知识库管理、文档上传/解析/切片/向量化、混合检索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**多模态对话**：支持图片上传与 Vision 模型，无 Vision 时回退 Windows OCR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**流式响应**：基于 SSE 的打字机效果，回答附引用编号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**异步任务**：Redis 队列 + Worker 心跳 + 可见性超时 + 自动重试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**检索评测**：26 题可答 + 4 题拒答，命中率/拒答率/引用正确率多维度评估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**现代前端**：Vue 3 + Vite + Pinia + Markdown 渲染 + 代码高亮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技术架构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0360152" cy="109728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1031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0574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前端应用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Vue 3 | Vite | Pinia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2971800"/>
            <a:ext cx="640080" cy="22860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200400"/>
            <a:ext cx="10360152" cy="1097280"/>
          </a:xfrm>
          <a:prstGeom prst="roundRect">
            <a:avLst/>
          </a:prstGeom>
          <a:solidFill>
            <a:srgbClr val="22C5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34747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4290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后端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FastAPI | Python | LangChain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760720" y="4343400"/>
            <a:ext cx="640080" cy="22860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10360152" cy="109728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48463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48006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数据层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MySQL | ChromaDB | MinIO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760720" y="5715000"/>
            <a:ext cx="640080" cy="22860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5943600"/>
            <a:ext cx="10360152" cy="109728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621792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617220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>
                <a:solidFill>
                  <a:srgbClr val="FFFFFF"/>
                </a:solidFill>
              </a:defRPr>
            </a:pPr>
            <a:r>
              <a:t>AI 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263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>
                <a:solidFill>
                  <a:srgbClr val="FFFFFF"/>
                </a:solidFill>
              </a:defRPr>
            </a:pPr>
            <a:r>
              <a:t>DeepSeek | BGE-M3 |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项目目录结构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demo1/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├── app.py                    # 后端主入口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├── config.py                 # 配置管理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├── redis_client.py           # Redis客户端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├── kb_worker.py              # 任务队列工作器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├── frontend/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│   ├── src/views/            # 页面组件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│   ├── src/api/              # API调用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│   └── src/stores/           # 状态管理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├── rag/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│   ├── embeddings.py         # 嵌入模型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│   ├── knowledge_base.py     # 知识库管理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│   ├── retriever.py          # 检索器</a:t>
            </a:r>
          </a:p>
          <a:p>
            <a:pPr>
              <a:defRPr sz="1100">
                <a:solidFill>
                  <a:srgbClr val="60A5FA"/>
                </a:solidFill>
                <a:latin typeface="Consolas" panose="020B0609020204030204"/>
              </a:defRPr>
            </a:pPr>
            <a:r>
              <a:t>│   └── generator.py          # 生成器</a:t>
            </a:r>
          </a:p>
          <a:p>
            <a:pPr>
              <a:defRPr sz="1100">
                <a:solidFill>
                  <a:srgbClr val="E2E8F0"/>
                </a:solidFill>
                <a:latin typeface="Consolas" panose="020B0609020204030204"/>
              </a:defRPr>
            </a:pPr>
            <a:r>
              <a:t>└── rag/data/                 # 数据目录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实体关系与数据模型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用户表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965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conversations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会话表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828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965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messages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消息表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knowledge_collections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知识库集合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4114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251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documents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文档表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114800"/>
            <a:ext cx="22860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42519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chunks</a:t>
            </a:r>
            <a:br/>
            <a:r>
              <a:t>(in ChromaDB)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文档块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0" y="2286000"/>
            <a:ext cx="91440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43600" y="2286000"/>
            <a:ext cx="137160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43200" y="4572000"/>
            <a:ext cx="91440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600" y="4572000"/>
            <a:ext cx="1371600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00200" y="2743200"/>
            <a:ext cx="0" cy="137160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00600" y="2743200"/>
            <a:ext cx="0" cy="137160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系统启动顺序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828800"/>
            <a:ext cx="9601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965960"/>
            <a:ext cx="9326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200">
                <a:solidFill>
                  <a:srgbClr val="333333"/>
                </a:solidFill>
              </a:defRPr>
            </a:pPr>
            <a:r>
              <a:t>项目运行需要启动 3 个进程，并依赖 MySQL / Redis / MinIO 三个外部服务。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后端核心：用户认证与会话管理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app.py - 鉴权与会话管理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JWT_SECRET = "ai-chat-jwt-secret-key-2025"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JWT_ALGORITHM = "HS256"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JWT_EXPIRE_HOURS = 72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create_jwt(user_id: int, username: str) -&gt; str: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payload = {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'user_id': user_id,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'username': username,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'exp': datetime.datetime.utcnow() + datetime.timedelta(hours=JWT_EXPIRE_HOURS),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'iat': datetime.datetime.utcnow(),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}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jwt.encode(payload, JWT_SECRET, algorithm=JWT_ALGORITHM)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async def get_current_user(credentials: HTTPAuthorizationCredentials = Depends(security)):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if credentials is None: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raise HTTPException(status_code=401, detail="请先登录")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verify_jwt(credentials.credentials)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@app.post("/api/login")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async def login(req: LoginRequest):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优先用户名查，失败再用 email 查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cursor.execute("SELECT id, username, email, password_hash FROM users WHERE username = %s", (req.username,))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user = cursor.fetchone() or cursor.execute(..., email) and fetchone()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not user or not bcrypt.checkpw(req.password.encode('utf-8'), user['password_hash'].encode('utf-8')):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raise HTTPException(status_code=401, detail="用户名或密码错误")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return {"token": create_jwt(user['id'], user['username']), "user": {...}}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后端核心：流式对话与 RAG 注入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app.py - 流式聊天 + RAG 上下文注入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async def chat(req: ChatRequest, user: dict = Depends(get_current_user)):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1. 解析选中知识库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selected_kb_ids = req.knowledge_base_ids or []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selected_kb_ids = validate_collection_ids(user["user_id"], selected_kb_ids)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2. 转换消息（含附件解析）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langchain_messages, requires_vision = convert_messages(req.messages, user["user_id"])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3. RAG 检索（如有）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if selected_kb_ids: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retrieval = await hybrid_retrieve(query, user_id, kb_ids, history=req.messages[:-1])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sources = build_sources(retrieval["items"])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langchain_messages = _apply_rag_context(langchain_messages, format_context(retrieval["items"]))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4. 流式返回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llm = get_llm(requires_vision=requires_vision)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    async def generate():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        async for chunk in llm.astream(langchain_messages):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yield f"data: {json.dumps({'content': chunk.content})}\n\n"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return StreamingResponse(generate(), media_type="text/event-stream")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后端核心：附件处理（图片/文档）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app.py - 附件处理核心逻辑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ALLOWED_IMAGE_EXTENSIONS = {'.jpg', '.jpeg', '.png', '.gif', '.bmp', '.webp'}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ALLOWED_DOCUMENT_EXTENSIONS = {'.txt','.md','.csv','.py','.js','.pdf','.docx','.pptx','.xlsx'}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@app.post("/api/upload/chat-file")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async def upload_chat_file(file: UploadFile = File(...), ...):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校验后写入 CHAT_UPLOAD_DIR/&lt;uid&gt;/&lt;uuid&gt;.&lt;ext&gt;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# 并保存元数据 JSON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attachment_id = str(uuid.uuid4())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save_path = user_dir / f'{attachment_id}{ext}'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save_path.write_bytes(file_bytes)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metadata_path.write_text(json.dumps({...}), encoding='utf-8')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return {"id": attachment_id, "name": name, "type": file_type, "size": len(file_bytes)}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核心：文档解析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rag/document_parser.py - 文档解析入口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TEXT_EXTENSIONS = {".txt",".md",".py",".js",".ts",".html",".css",".json",".xml",".yaml",".yml",".sql"}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SUPPORTED_EXTENSIONS = TEXT_EXTENSIONS | {".csv", ".pdf", ".docx", ".pptx", ".xlsx"}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F59E0B"/>
                </a:solidFill>
                <a:latin typeface="Consolas" panose="020B0609020204030204"/>
              </a:defRPr>
            </a:pPr>
            <a:r>
              <a:t>@dataclass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class Section: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text: str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locator: Dict[str, Any]  # {"section": "...", "page": 1}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parse_document(path: Path) -&gt; List[Section]: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ext = path.suffix.lower()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if ext in TEXT_EXTENSIONS:  return _parse_text(path)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ext == ".csv":           return _parse_csv(path)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ext == ".pdf":           return _parse_pdf(path)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ext == ".docx":          return _parse_docx(path)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ext == ".pptx":          return _parse_pptx(path)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if ext == ".xlsx":          return _parse_xlsx(path)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raise ValueError(f"Unsupported: {ext}")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核心：嵌入模型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rag/embeddings.py</a:t>
            </a:r>
          </a:p>
          <a:p>
            <a:pPr>
              <a:spcBef>
                <a:spcPts val="0"/>
              </a:spcBef>
              <a:defRPr sz="900">
                <a:solidFill>
                  <a:srgbClr val="8B5CF6"/>
                </a:solidFill>
                <a:latin typeface="Consolas" panose="020B0609020204030204"/>
              </a:defRPr>
            </a:pPr>
            <a:r>
              <a:t>from sentence_transformers import SentenceTransformer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MODEL_PATH = str(RAG_DIR / 'models' / 'bge-m3')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_model = None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get_model() -&gt; SentenceTransformer: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global _model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if _model is None: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_model = SentenceTransformer(MODEL_PATH, trust_remote_code=True)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_model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get_text_embedding(text: str) -&gt; np.ndarray: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get_model().encode(text, normalize_embeddings=True).astype(np.float32)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get_embedding_dim() -&gt; int: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1024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核心：异步任务队列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rag/job_queue.py - 原子领取（Lua）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CLAIM_SCRIPT = """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local job_id = redis.call('RPOP', KEYS[1])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if not job_id then return nil end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redis.call('ZADD', KEYS[2], ARGV[1], job_id)  -- processing zset: score=expireAt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redis.call('HSET', KEYS[3], job_id, ARGV[2])  -- claim_token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return job_id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"""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claim(timeout: int = 2):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redis = get_redis()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token = uuid.uuid4().hex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job_id = redis.eval(CLAIM_SCRIPT, 3, QUEUE_KEY, PROCESSING_KEY, CLAIMS_KEY,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            time.time() + VISIBILITY_TIMEOUT, token)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return {"job_id": job_id, "claim_token": token} if job_id else 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核心：Worker 主循环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kb_worker.py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main():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init_db()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worker_id = f"{socket.gethostname()}-{uuid.uuid4().hex[:8]}"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active_claim = {"job_id": None, "token": None}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active_lock = threading.Lock()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    def heartbeat_loop():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while True: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set_worker_heartbeat(worker_id, {...})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with active_lock: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    if active_claim["job_id"]: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        heartbeat_claim(active_claim["job_id"], active_claim["token"])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time.sleep(10)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threading.Thread(target=heartbeat_loop, daemon=True).start()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while True: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if time.time() - last_recovery &gt; 15: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requeue_expired(); last_recovery = time.time()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claimed = claim(timeout=2)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if not claimed: continue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        # 续约 → 解析/切块/向量化 → 入库 → ack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result = process_index_job(claimed["job_id"], claimed["claim_token"])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acknowledge(claimed["job_id"], claimed["claim_token"])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核心：混合检索（向量 + BM25 + RRF）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rag/retriever.py</a:t>
            </a:r>
          </a:p>
          <a:p>
            <a:pPr>
              <a:spcBef>
                <a:spcPts val="0"/>
              </a:spcBef>
              <a:defRPr sz="900">
                <a:solidFill>
                  <a:srgbClr val="8B5CF6"/>
                </a:solidFill>
                <a:latin typeface="Consolas" panose="020B0609020204030204"/>
              </a:defRPr>
            </a:pPr>
            <a:r>
              <a:t>import jieba</a:t>
            </a:r>
          </a:p>
          <a:p>
            <a:pPr>
              <a:spcBef>
                <a:spcPts val="0"/>
              </a:spcBef>
              <a:defRPr sz="900">
                <a:solidFill>
                  <a:srgbClr val="8B5CF6"/>
                </a:solidFill>
                <a:latin typeface="Consolas" panose="020B0609020204030204"/>
              </a:defRPr>
            </a:pPr>
            <a:r>
              <a:t>import math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_bm25_scores(corpus, query_tokens):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k1, b = 1.5, 0.75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df = {t: sum(1 for d in corpus if t in d) for t in set(q for d in corpus for q in d)}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idf = {t: math.log(1 + (N - df[t] + 0.5) / (df[t] + 0.5)) for t in df}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[sum(idf[t]*f*(k1+1)/(f + k1*(1-b+b*len(d)/avgdl))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        for t,f in Counter(d).items() if t in idf) for d in corpus]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reciprocal_rank_fusion(rankings, limit=12, k=60):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merged = {}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for r in rankings: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for pos, item in enumerate(r, 1):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cid = item["id"]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merged.setdefault(cid, dict(item))["rrf_score"] = merged.get(cid,{}).get("rrf_score",0) + 1.0/(k+pos)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return sorted(merged.values(), key=lambda x: x["rrf_score"], reverse=True)[:limit]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RAG 核心：生成器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rag/generator.py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RAG_SYSTEM_PROMPT = """你是一个基于知识库的智能问答助手。请根据提供的参考信息回答用户的问题。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要求：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1. 严格基于提供的参考信息回答问题，不要编造不存在的知识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2. 如果参考信息不足以回答问题，请明确说明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3. 引用来源时标注编号，如 [1][2]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4. 回答要简洁准确，条理清晰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6. 每个事实性结论必须紧跟来源编号，如 [1] 或 [1][2]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7. 参考信息没有覆盖的问题，明确回答"知识库中没有足够信息"，不要使用模型常识补写"""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async def rag_generate_stream(query, context, history=None):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llm = get_llm()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messages = [SystemMessage(content=RAG_SYSTEM_PROMPT), *history,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    HumanMessage(content=f"参考信息：\n{context}\n\n用户问题：{query}")]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    async for chunk in llm.astream(messages):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yield json.dumps({'content': chunk.content})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前端核心：API 封装与状态管理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// frontend/src/api/index.js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import axios from 'axios'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import { useAuthStore } from '@/stores/auth'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const api = axios.create({ baseURL: '/api' })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api.interceptors.request.use((config) =&gt; {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  const auth = useAuthStore()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if (auth.token) config.headers.Authorization = `Bearer ${auth.token}`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return config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})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api.interceptors.response.use(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(r) =&gt; r.data,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(err) =&gt; { if (err.response?.status === 401) { /* 跳登录 */ } return Promise.reject(err) 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export const chat = (data) =&gt; api.post('/chat', data, { responseType: 'stream' })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export const uploadChatFile = (form) =&gt; api.post('/upload/chat-file', form)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export const listCollections = () =&gt; api.get('/knowledge-bases')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前端核心：知识库页面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VUE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&lt;!-- frontend/src/views/KnowledgeBaseView.vue 核心片段 --&gt;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&lt;template&gt;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&lt;div class="kb-page"&gt;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&lt;div class="worker-status" :class="{ healthy: workerHealthy }"&gt;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&lt;span class="status-dot"&gt;&lt;/span&gt;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{{ workerHealthy ? `索引服务在线（${workerCount}）` : '索引服务未运行' }}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&lt;/div&gt;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&lt;aside class="collections-panel"&gt;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&lt;button v-for="c in collections" :key="c.id"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:class="['collection-item', { active: c.id === activeCollectionId }]"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@click="selectCollection(c.id)"&gt;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&lt;i class="fa-regular fa-folder"&gt;&lt;/i&gt;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&lt;span&gt;{{ c.name }}&lt;/span&gt;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&lt;span class="collection-count"&gt;{{ c.document_count || 0 }}&lt;/span&gt;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&lt;/button&gt;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&lt;/aside&gt;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&lt;/div&gt;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&lt;/template&gt;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配置管理与缓存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config.py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load_config(force_reload: bool = False) -&gt; Dict[str, str]: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global _config_cache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if _config_cache is not None and not force_reload: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return _config_cache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config = {}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with open(CONFIG_PATH, 'r', encoding='utf-8') as f: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for line in f: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line = line.strip()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if not line or line.startswith('#'): continue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if ':' in line:</a:t>
            </a:r>
          </a:p>
          <a:p>
            <a:pPr>
              <a:spcBef>
                <a:spcPts val="0"/>
              </a:spcBef>
              <a:defRPr sz="900">
                <a:solidFill>
                  <a:srgbClr val="22C55E"/>
                </a:solidFill>
                <a:latin typeface="Consolas" panose="020B0609020204030204"/>
              </a:defRPr>
            </a:pPr>
            <a:r>
              <a:t>                k, v = line.split(':', 1)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        config[k.strip()] = v.strip()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_config_cache = config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return config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redis_client.py - 容错缓存</a:t>
            </a:r>
          </a:p>
          <a:p>
            <a:pPr>
              <a:spcBef>
                <a:spcPts val="0"/>
              </a:spcBef>
              <a:defRPr sz="900" b="1">
                <a:solidFill>
                  <a:srgbClr val="A855F7"/>
                </a:solidFill>
                <a:latin typeface="Consolas" panose="020B0609020204030204"/>
              </a:defRPr>
            </a:pPr>
            <a:r>
              <a:t>def cache_get(key: str):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try: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    val = get_redis().get(key)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return json.loads(val) if val else None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   except Exception:</a:t>
            </a:r>
          </a:p>
          <a:p>
            <a:pPr>
              <a:spcBef>
                <a:spcPts val="0"/>
              </a:spcBef>
              <a:defRPr sz="900" b="1">
                <a:solidFill>
                  <a:srgbClr val="3B82F6"/>
                </a:solidFill>
                <a:latin typeface="Consolas" panose="020B0609020204030204"/>
              </a:defRPr>
            </a:pPr>
            <a:r>
              <a:t>        return None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检索评测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41148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 b="1">
                <a:solidFill>
                  <a:srgbClr val="FFFFFF"/>
                </a:solidFill>
              </a:defRPr>
            </a:pPr>
            <a:r>
              <a:t>BASH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自动化评测：先建临时知识库并灌入评测语料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python -m rag.evaluation --username your-user --password your-password --seed-fixture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 </a:t>
            </a:r>
          </a:p>
          <a:p>
            <a:pPr>
              <a:spcBef>
                <a:spcPts val="0"/>
              </a:spcBef>
              <a:defRPr sz="900" i="1">
                <a:solidFill>
                  <a:srgbClr val="6B7280"/>
                </a:solidFill>
                <a:latin typeface="Consolas" panose="020B0609020204030204"/>
              </a:defRPr>
            </a:pPr>
            <a:r>
              <a:t># 使用现有知识库评测</a:t>
            </a:r>
          </a:p>
          <a:p>
            <a:pPr>
              <a:spcBef>
                <a:spcPts val="0"/>
              </a:spcBef>
              <a:defRPr sz="900">
                <a:solidFill>
                  <a:srgbClr val="E2E8F0"/>
                </a:solidFill>
                <a:latin typeface="Consolas" panose="020B0609020204030204"/>
              </a:defRPr>
            </a:pPr>
            <a:r>
              <a:t>python -m rag.evaluation --username your-user --password your-password --collection-id your-kb-id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测试策略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**核心单测**：`test_knowledge_base_core.py` 覆盖知识库 CRUD、向量化、检索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**附件回归**：`test_attachment_pipeline.py` 覆盖图片/文档/OCR/Vision 切换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**聊天改进**：`test_chat_improvements.py` 覆盖流式、RAG 注入、会话保存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**端到端 RAG**：`test_rag.py` 覆盖完整问答链路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**编译检查**：`python -m py_compile app.py kb_worker.py rag\*.py`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**前端构建**：`npm run build`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9144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003366"/>
                </a:solidFill>
              </a:defRPr>
            </a:pPr>
            <a:r>
              <a:t>总结与项目价值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800"/>
              </a:spcBef>
              <a:defRPr sz="1400">
                <a:solidFill>
                  <a:srgbClr val="444444"/>
                </a:solidFill>
              </a:defRPr>
            </a:pPr>
            <a:r>
              <a:t>本项目从 0 到 1 构建了一个**生产级 AI 智能对话平台**，覆盖了：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1. 完整 Web 全栈（Vue 3 + FastAPI）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2. 用户体系与会话持久化（JWT + MySQL + Redis 缓存）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3. 多模态 LLM 调用（LangChain + OpenAI 兼容协议）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4. 完整的 RAG 链路（解析→切片→嵌入→混合检索→生成）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5. 异步任务体系（Redis 队列 + 心跳 + 可见性 + 重试）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6. 检索评测（30 题自动化评估）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7. 工具链自研（Markdown→PPT 工具 `md_to_ppt.py`）</a:t>
            </a:r>
          </a:p>
          <a:p>
            <a:pPr algn="l">
              <a:spcBef>
                <a:spcPts val="800"/>
              </a:spcBef>
              <a:defRPr sz="1400">
                <a:solidFill>
                  <a:srgbClr val="444444"/>
                </a:solidFill>
              </a:defRPr>
            </a:pPr>
            <a:r>
              <a:t>这套架构既可作为学习 RAG 工程化的范例，也可以作为搭建企业内部知识库问答、客服机器人、文档助手等场景的脚手架。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11417</Words>
  <Application>WPS 演示</Application>
  <PresentationFormat>On-screen Show (4:3)</PresentationFormat>
  <Paragraphs>413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向阳</cp:lastModifiedBy>
  <cp:revision>2</cp:revision>
  <dcterms:created xsi:type="dcterms:W3CDTF">2013-01-27T09:14:00Z</dcterms:created>
  <dcterms:modified xsi:type="dcterms:W3CDTF">2026-06-10T03:24:27Z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FE63B664ADCC4DF9B822CA76E68711DA_12</vt:lpwstr>
  </property>
  <property fmtid="{D5CDD505-2E9C-101B-9397-08002B2CF9AE}" pid="3" name="KSOProductBuildVer">
    <vt:lpwstr>2052-12.1.0.26895</vt:lpwstr>
  </property>
</Properties>
</file>